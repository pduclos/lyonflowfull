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77" r:id="rId3"/>
    <p:sldId id="278" r:id="rId4"/>
    <p:sldId id="279" r:id="rId5"/>
    <p:sldId id="280" r:id="rId6"/>
    <p:sldId id="287" r:id="rId7"/>
    <p:sldId id="284" r:id="rId8"/>
    <p:sldId id="285" r:id="rId9"/>
    <p:sldId id="288" r:id="rId10"/>
    <p:sldId id="265" r:id="rId11"/>
    <p:sldId id="281" r:id="rId12"/>
    <p:sldId id="286" r:id="rId13"/>
    <p:sldId id="268" r:id="rId14"/>
    <p:sldId id="269" r:id="rId15"/>
    <p:sldId id="282" r:id="rId16"/>
    <p:sldId id="271" r:id="rId17"/>
    <p:sldId id="289" r:id="rId18"/>
    <p:sldId id="290" r:id="rId19"/>
    <p:sldId id="274" r:id="rId20"/>
    <p:sldId id="283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560"/>
    <p:restoredTop sz="94610"/>
  </p:normalViewPr>
  <p:slideViewPr>
    <p:cSldViewPr snapToGrid="0" snapToObjects="1">
      <p:cViewPr varScale="1">
        <p:scale>
          <a:sx n="194" d="100"/>
          <a:sy n="194" d="100"/>
        </p:scale>
        <p:origin x="216" y="3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37795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371600"/>
            <a:ext cx="4572000" cy="4572000"/>
          </a:xfrm>
          <a:prstGeom prst="ellipse">
            <a:avLst/>
          </a:prstGeom>
          <a:solidFill>
            <a:srgbClr val="142440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114800"/>
            <a:ext cx="2926080" cy="2926080"/>
          </a:xfrm>
          <a:prstGeom prst="ellipse">
            <a:avLst/>
          </a:prstGeom>
          <a:solidFill>
            <a:srgbClr val="0E7C86">
              <a:alpha val="3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RNCP 38777 — ARCHITECTE EN INTELLIGENCE ARTIFICIELLE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 4 — Construire, déployer et piloter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solutions d'IA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34290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22960" y="425196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MLOps de prédiction et d'analyse du trafic multimodal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Métropole de Lyon — en production sur VPS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56692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Patrice DUCLOS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Data Analyst — Candidat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en production continue sur VPS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Columns Panel"/>
          <p:cNvSpPr/>
          <p:nvPr/>
        </p:nvSpPr>
        <p:spPr>
          <a:xfrm>
            <a:off x="393700" y="1524000"/>
            <a:ext cx="11404600" cy="3454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1" name="Divider 1"/>
          <p:cNvSpPr/>
          <p:nvPr/>
        </p:nvSpPr>
        <p:spPr>
          <a:xfrm>
            <a:off x="4229100" y="1905000"/>
            <a:ext cx="15240" cy="2819400"/>
          </a:xfrm>
          <a:prstGeom prst="rect">
            <a:avLst/>
          </a:prstGeom>
          <a:solidFill>
            <a:srgbClr val="E3E8E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2" name="Divider 2"/>
          <p:cNvSpPr/>
          <p:nvPr/>
        </p:nvSpPr>
        <p:spPr>
          <a:xfrm>
            <a:off x="8026400" y="1905000"/>
            <a:ext cx="15240" cy="2819400"/>
          </a:xfrm>
          <a:prstGeom prst="rect">
            <a:avLst/>
          </a:prstGeom>
          <a:solidFill>
            <a:srgbClr val="E3E8E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— COMPÉTENCE C1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trafic à Lyon : un problème multimodal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Métropole de Lyon : réseau multimodal (voiture, TCL, Vélo'v)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" y="2715768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1 520 capteurs trafic actifs (boucles Grand Lyon)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3374136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SIRI Lite TCL, GBFS Vélo'v, météo, qualité de l'air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4032504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sources Open Data temps réel, cadence 5 à 15 min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343400" y="1691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ENJEUX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343400" y="205740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Waze/TomTom/HERE : chaque mode traité en silo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343400" y="2715768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Jamais de croisement bus × trafic × Vélo'v entre eux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343400" y="3374136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de prédiction court terme fiable (H+1h)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343400" y="4032504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publics hétérogènes : Usager, Pro TCL, Élu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138160" y="16916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MLOPS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138160" y="2057400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end-to-end automatisé et reproductible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138160" y="2715768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+ MLflow + Git — tout rejouable, tout tracé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138160" y="3374136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H+1h en production continue (pas une PoC)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138160" y="4032504"/>
            <a:ext cx="3566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sobre — VPS unique, 6 vCPU / 12 Go RAM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25780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40080" y="536752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0080" y="590976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servis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37560" y="525780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3429000" y="536752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429000" y="590976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Streamlit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126480" y="525780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6217920" y="536752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217920" y="590976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open data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915400" y="525780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9006840" y="536752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9006840" y="590976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en production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10" name="Title Accent"/>
          <p:cNvSpPr/>
          <p:nvPr/>
        </p:nvSpPr>
        <p:spPr>
          <a:xfrm>
            <a:off x="393700" y="355600"/>
            <a:ext cx="63500" cy="10160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1" name="Head Underline 0"/>
          <p:cNvSpPr/>
          <p:nvPr/>
        </p:nvSpPr>
        <p:spPr>
          <a:xfrm>
            <a:off x="546100" y="2019300"/>
            <a:ext cx="431800" cy="3175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2" name="Head Underline 1"/>
          <p:cNvSpPr/>
          <p:nvPr/>
        </p:nvSpPr>
        <p:spPr>
          <a:xfrm>
            <a:off x="4343400" y="2019300"/>
            <a:ext cx="431800" cy="3175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3" name="Head Underline 2"/>
          <p:cNvSpPr/>
          <p:nvPr/>
        </p:nvSpPr>
        <p:spPr>
          <a:xfrm>
            <a:off x="8140700" y="2019300"/>
            <a:ext cx="431800" cy="3175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0" name="KPI Tab 0"/>
          <p:cNvSpPr/>
          <p:nvPr/>
        </p:nvSpPr>
        <p:spPr>
          <a:xfrm>
            <a:off x="1644650" y="5219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14244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1" name="KPI Tab 1"/>
          <p:cNvSpPr/>
          <p:nvPr/>
        </p:nvSpPr>
        <p:spPr>
          <a:xfrm>
            <a:off x="4438650" y="5219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2" name="KPI Tab 2"/>
          <p:cNvSpPr/>
          <p:nvPr/>
        </p:nvSpPr>
        <p:spPr>
          <a:xfrm>
            <a:off x="7219950" y="5219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3" name="KPI Tab 3"/>
          <p:cNvSpPr/>
          <p:nvPr/>
        </p:nvSpPr>
        <p:spPr>
          <a:xfrm>
            <a:off x="10013950" y="5219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74558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Card 0"/>
          <p:cNvSpPr/>
          <p:nvPr/>
        </p:nvSpPr>
        <p:spPr>
          <a:xfrm>
            <a:off x="101600" y="3009900"/>
            <a:ext cx="4038600" cy="3695700"/>
          </a:xfrm>
          <a:prstGeom prst="roundRect">
            <a:avLst>
              <a:gd name="adj" fmla="val 38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>
            <a:outerShdw blurRad="70000" dist="25400" dir="5400000" rotWithShape="0">
              <a:srgbClr val="14244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1" name="Card 1"/>
          <p:cNvSpPr/>
          <p:nvPr/>
        </p:nvSpPr>
        <p:spPr>
          <a:xfrm>
            <a:off x="4165600" y="3009900"/>
            <a:ext cx="3873500" cy="3695700"/>
          </a:xfrm>
          <a:prstGeom prst="roundRect">
            <a:avLst>
              <a:gd name="adj" fmla="val 38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>
            <a:outerShdw blurRad="70000" dist="25400" dir="5400000" rotWithShape="0">
              <a:srgbClr val="14244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2" name="Card 2"/>
          <p:cNvSpPr/>
          <p:nvPr/>
        </p:nvSpPr>
        <p:spPr>
          <a:xfrm>
            <a:off x="8051800" y="3009900"/>
            <a:ext cx="4038600" cy="3695700"/>
          </a:xfrm>
          <a:prstGeom prst="roundRect">
            <a:avLst>
              <a:gd name="adj" fmla="val 38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>
            <a:outerShdw blurRad="70000" dist="25400" dir="5400000" rotWithShape="0">
              <a:srgbClr val="14244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L'interface Streamlit — trois personas, une plateforme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1417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multi-pages : Usager (trajet multimodal), Pro TCL (supervision réseau), Élu (synthèse décisionnelle). Captures à insérer depuis le dashboard en production.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3657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À INSÉRER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40233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424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Usager_1_Mon_Trajet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59893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de trajet multimodal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17720" y="59893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Supervision réseau temps réel (Keolis)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12480" y="59893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 décisionnelle Grand Lyon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6C79CA3D-9116-9AA3-DCB9-F4F592F6E1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257" y="3117079"/>
            <a:ext cx="3960303" cy="215125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BACD727F-5B6C-13DD-EE30-6FEFFF12B0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8620" y="3099141"/>
            <a:ext cx="3794760" cy="2166055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E65C85CD-F0EE-2EFD-56B6-77FFFB3945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3099141"/>
            <a:ext cx="3960303" cy="2187136"/>
          </a:xfrm>
          <a:prstGeom prst="rect">
            <a:avLst/>
          </a:prstGeom>
        </p:spPr>
      </p:pic>
      <p:sp>
        <p:nvSpPr>
          <p:cNvPr id="310" name="Title Accent"/>
          <p:cNvSpPr/>
          <p:nvPr/>
        </p:nvSpPr>
        <p:spPr>
          <a:xfrm>
            <a:off x="393700" y="355600"/>
            <a:ext cx="63500" cy="10160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Cap Accent 0"/>
          <p:cNvSpPr/>
          <p:nvPr/>
        </p:nvSpPr>
        <p:spPr>
          <a:xfrm>
            <a:off x="1905000" y="5626100"/>
            <a:ext cx="431800" cy="381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2" name="Cap Accent 1"/>
          <p:cNvSpPr/>
          <p:nvPr/>
        </p:nvSpPr>
        <p:spPr>
          <a:xfrm>
            <a:off x="5880100" y="5626100"/>
            <a:ext cx="431800" cy="381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3" name="Cap Accent 2"/>
          <p:cNvSpPr/>
          <p:nvPr/>
        </p:nvSpPr>
        <p:spPr>
          <a:xfrm>
            <a:off x="9855200" y="5626100"/>
            <a:ext cx="431800" cy="381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2476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anel A"/>
          <p:cNvSpPr/>
          <p:nvPr/>
        </p:nvSpPr>
        <p:spPr>
          <a:xfrm>
            <a:off x="355600" y="4089400"/>
            <a:ext cx="5791200" cy="23495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01" name="Panel B"/>
          <p:cNvSpPr/>
          <p:nvPr/>
        </p:nvSpPr>
        <p:spPr>
          <a:xfrm>
            <a:off x="6109815" y="4213225"/>
            <a:ext cx="5791200" cy="23495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C1 — CAHIER DES CHARGES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personas, des besoins vérifiables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 public lyonnais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trajet multimodal (temps / coût / CO₂)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36118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pages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6916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617720" y="18745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TCL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617720" y="2331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Opérateurs réseau (Keolis)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17720" y="26974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Superviser le réseau, détecter retards et goulets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17720" y="36118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pages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0" y="16916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8458200" y="187452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Élu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458200" y="2331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Décideurs Grand Lyon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58200" y="26974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Synthèse décisionnelle, diagnostic infra, rapport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458200" y="36118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pages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251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techniques &amp; économiques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4617720"/>
            <a:ext cx="56692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réel : ingestion */5min, inférence */15min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Reproductibilité : Airflow + MLflow + Git, tout rejouable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Fiabilité : politique « zéro mock » — DashboardDataError explicite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Open Data gratuites — coût d'infra maîtrisé (VPS unique)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92240" y="4251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Accessibilité (exigence explicite C1+C2)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92240" y="461772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Textes alternatifs Plotly (a11y.py, plotly_with_alt)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 contraste élevé, sémantique couleurs documentée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Libellés lisibles pour profils non techniques (élus, public)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Usager en accès libre ; Pro/Élu protégés par authentification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410" name="Title Accent"/>
          <p:cNvSpPr/>
          <p:nvPr/>
        </p:nvSpPr>
        <p:spPr>
          <a:xfrm>
            <a:off x="393700" y="355600"/>
            <a:ext cx="63500" cy="10160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1" name="Persona Underline 0"/>
          <p:cNvSpPr/>
          <p:nvPr/>
        </p:nvSpPr>
        <p:spPr>
          <a:xfrm>
            <a:off x="1004945" y="2277110"/>
            <a:ext cx="431800" cy="3175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2" name="Persona Underline 1"/>
          <p:cNvSpPr/>
          <p:nvPr/>
        </p:nvSpPr>
        <p:spPr>
          <a:xfrm>
            <a:off x="4904740" y="2261235"/>
            <a:ext cx="431800" cy="3175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3" name="Persona Underline 2"/>
          <p:cNvSpPr/>
          <p:nvPr/>
        </p:nvSpPr>
        <p:spPr>
          <a:xfrm>
            <a:off x="8537141" y="2261235"/>
            <a:ext cx="431800" cy="3175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4" name="Section Underline 0"/>
          <p:cNvSpPr/>
          <p:nvPr/>
        </p:nvSpPr>
        <p:spPr>
          <a:xfrm>
            <a:off x="1684166" y="4572000"/>
            <a:ext cx="508000" cy="3175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15" name="Section Underline 1"/>
          <p:cNvSpPr/>
          <p:nvPr/>
        </p:nvSpPr>
        <p:spPr>
          <a:xfrm>
            <a:off x="7721600" y="4577715"/>
            <a:ext cx="508000" cy="45719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341964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anel"/>
          <p:cNvSpPr/>
          <p:nvPr/>
        </p:nvSpPr>
        <p:spPr>
          <a:xfrm>
            <a:off x="393700" y="1422400"/>
            <a:ext cx="11404600" cy="48768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GLOBALE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548640" y="1554480"/>
          <a:ext cx="11091672" cy="4626864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74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Couche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Technologie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Orchestration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Apache Airflow 2.9 — LocalExecutor (Redis/Celery retirés Sprint 15+)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Base de données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PostgreSQL 16 + PostGIS 3.5 + pgRouting 3.7.3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ML tracking / registry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MLflow 2.12.1 — 6 modèles versionnés, stage Production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ML trafic &amp; Vélo'v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XGBoost H+1h — modèle réactif, léger, découplé entraînement/inférence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Routing voiture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pgRouting pgr_dijkstra sur réseau routier OSM réel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API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FastAPI — X-API-Key, rate limiting, /metrics Prometheus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Dashboard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Streamlit multi-pages — socle UX + accessibilité unifiés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Monitoring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Cron + alertes Telegram (cible : Prometheus/Grafana)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Reverse proxy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Nginx 1.27 — seul service exposé publiquement (80/443)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42440"/>
                          </a:solidFill>
                        </a:rPr>
                        <a:t>CI/CD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</a:rPr>
                        <a:t>GitHub Actions — 5 jobs (lint, typecheck, security, test, docker-build)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4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itleAccent">
            <a:extLst>
              <a:ext uri="{FF2B5EF4-FFF2-40B4-BE49-F238E27FC236}">
                <a16:creationId xmlns:a16="http://schemas.microsoft.com/office/drawing/2014/main" id="{B339C31F-3D47-CA4B-8DF2-F5406D0991DF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5688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DONNÉES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Medallion — vue d'ensemble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520440" cy="502920"/>
          </a:xfrm>
          <a:prstGeom prst="rect">
            <a:avLst/>
          </a:prstGeom>
          <a:solidFill>
            <a:srgbClr val="1424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tables + 2 vues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788920"/>
            <a:ext cx="3154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brute immuable — 9 sources temps réel (dont vigilance météo, nouveau)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69080" y="265176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389120" y="169164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4389120" y="1691640"/>
            <a:ext cx="3520440" cy="502920"/>
          </a:xfrm>
          <a:prstGeom prst="rect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389120" y="169164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0" y="2377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tables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0" y="2788920"/>
            <a:ext cx="3154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Nettoyage, dédup, normalisation géo (4326 + 2154)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909560" y="265176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229600" y="1691640"/>
            <a:ext cx="3520440" cy="2606040"/>
          </a:xfrm>
          <a:prstGeom prst="roundRect">
            <a:avLst>
              <a:gd name="adj" fmla="val 2807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8229600" y="1691640"/>
            <a:ext cx="3520440" cy="502920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8229600" y="1691640"/>
            <a:ext cx="3520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12480" y="2377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~38 tables + vues mat.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412480" y="2788920"/>
            <a:ext cx="3154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ML, prédictions, vues décisionnelles multimodales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46177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640080" y="4727448"/>
            <a:ext cx="2423160" cy="77952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40080" y="5496458"/>
            <a:ext cx="2423160" cy="4960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DAGs Airflow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(25 actifs + 3 pausés)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91840" y="46177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3383280" y="4727448"/>
            <a:ext cx="2423160" cy="77952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383280" y="5496458"/>
            <a:ext cx="2423160" cy="4960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ingérées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(dont vigilance météo, nouveau)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035040" y="46177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6126480" y="4727448"/>
            <a:ext cx="2423160" cy="77952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41 737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126480" y="5496458"/>
            <a:ext cx="2423160" cy="4960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arêtes OSM couvertes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les capteurs trafic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778240" y="46177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8869680" y="4727448"/>
            <a:ext cx="2423160" cy="77952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8869680" y="5496458"/>
            <a:ext cx="2423160" cy="49606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migrations SQL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versionnées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35" name="TitleAccent">
            <a:extLst>
              <a:ext uri="{FF2B5EF4-FFF2-40B4-BE49-F238E27FC236}">
                <a16:creationId xmlns:a16="http://schemas.microsoft.com/office/drawing/2014/main" id="{82C5EA96-6C0E-6C48-B82A-B9663D4DE1B6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00" name="KTab"/>
          <p:cNvSpPr/>
          <p:nvPr/>
        </p:nvSpPr>
        <p:spPr>
          <a:xfrm>
            <a:off x="1619250" y="45974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KTab"/>
          <p:cNvSpPr/>
          <p:nvPr/>
        </p:nvSpPr>
        <p:spPr>
          <a:xfrm>
            <a:off x="4362450" y="45974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KTab"/>
          <p:cNvSpPr/>
          <p:nvPr/>
        </p:nvSpPr>
        <p:spPr>
          <a:xfrm>
            <a:off x="7105650" y="45974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KTab"/>
          <p:cNvSpPr/>
          <p:nvPr/>
        </p:nvSpPr>
        <p:spPr>
          <a:xfrm>
            <a:off x="9848850" y="45974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6661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ImgFrame"/>
          <p:cNvSpPr/>
          <p:nvPr/>
        </p:nvSpPr>
        <p:spPr>
          <a:xfrm>
            <a:off x="2781300" y="1447800"/>
            <a:ext cx="6616700" cy="4838700"/>
          </a:xfrm>
          <a:prstGeom prst="roundRect">
            <a:avLst>
              <a:gd name="adj" fmla="val 26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>
            <a:outerShdw blurRad="70000" dist="25400" dir="5400000" rotWithShape="0">
              <a:srgbClr val="14244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DONNÉES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détaillé — flux Medallion complet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pic>
        <p:nvPicPr>
          <p:cNvPr id="7" name="Picture 6" descr="01_flux_donnees_medall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2661" y="1569129"/>
            <a:ext cx="6363629" cy="4588422"/>
          </a:xfrm>
          <a:prstGeom prst="rect">
            <a:avLst/>
          </a:prstGeom>
        </p:spPr>
      </p:pic>
      <p:sp>
        <p:nvSpPr>
          <p:cNvPr id="4" name="TitleAccent">
            <a:extLst>
              <a:ext uri="{FF2B5EF4-FFF2-40B4-BE49-F238E27FC236}">
                <a16:creationId xmlns:a16="http://schemas.microsoft.com/office/drawing/2014/main" id="{17DF7A1E-54EA-BD4C-AC52-4E2A4ACAA9DE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32079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ImgFrame"/>
          <p:cNvSpPr/>
          <p:nvPr/>
        </p:nvSpPr>
        <p:spPr>
          <a:xfrm>
            <a:off x="3581400" y="1244600"/>
            <a:ext cx="5029200" cy="5194300"/>
          </a:xfrm>
          <a:prstGeom prst="roundRect">
            <a:avLst>
              <a:gd name="adj" fmla="val 26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>
            <a:outerShdw blurRad="70000" dist="25400" dir="5400000" rotWithShape="0">
              <a:srgbClr val="142440">
                <a:alpha val="14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DONNÉES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 — de l'ingestion au service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7" name="Picture 6" descr="04_pipeline_air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7966" y="1371600"/>
            <a:ext cx="4773019" cy="4937760"/>
          </a:xfrm>
          <a:prstGeom prst="rect">
            <a:avLst/>
          </a:prstGeom>
        </p:spPr>
      </p:pic>
      <p:sp>
        <p:nvSpPr>
          <p:cNvPr id="4" name="TitleAccent">
            <a:extLst>
              <a:ext uri="{FF2B5EF4-FFF2-40B4-BE49-F238E27FC236}">
                <a16:creationId xmlns:a16="http://schemas.microsoft.com/office/drawing/2014/main" id="{E7A4FA4C-164C-5E43-B583-7E83D5775F88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411258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H+1h — modèle trafic unique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18520" cy="1874520"/>
          </a:xfrm>
          <a:prstGeom prst="roundRect">
            <a:avLst>
              <a:gd name="adj" fmla="val 3902"/>
            </a:avLst>
          </a:prstGeom>
          <a:solidFill>
            <a:srgbClr val="1424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424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H+1h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seul modèle trafic en production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features (temporel, météo, lags, rolling mean) issues de gold.traffic_features_live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Découplage entraînement (1×/j, 03h38, dag_daily_speed_train) / inférence (*/15min, dag_inference_xgboost)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7490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d'architecture : sur un VPS à 6 vCPU, un modèle unique léger et réactif — plutôt qu'un ensemble de modèles lourds — donne la meilleure fiabilité de service pour la contrainte de ressources fixée au cahier des charges (§2.3).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47091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640080" y="481888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536112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ML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(traffic_features_live)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37560" y="47091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429000" y="481888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03h38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429000" y="536112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entraînement quotidien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dag_daily_speed_train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47091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6217920" y="481888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*/15min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217920" y="536112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inférence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dag_inference_xgboost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915400" y="4709160"/>
            <a:ext cx="265176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9006840" y="4818888"/>
            <a:ext cx="2468880" cy="57835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006840" y="5361127"/>
            <a:ext cx="2468880" cy="36804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MLflow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Production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21" name="TitleAccent">
            <a:extLst>
              <a:ext uri="{FF2B5EF4-FFF2-40B4-BE49-F238E27FC236}">
                <a16:creationId xmlns:a16="http://schemas.microsoft.com/office/drawing/2014/main" id="{2ED57C5C-166F-9240-B192-A060EDDF3A7D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00" name="KTab"/>
          <p:cNvSpPr/>
          <p:nvPr/>
        </p:nvSpPr>
        <p:spPr>
          <a:xfrm>
            <a:off x="1644650" y="46863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KTab"/>
          <p:cNvSpPr/>
          <p:nvPr/>
        </p:nvSpPr>
        <p:spPr>
          <a:xfrm>
            <a:off x="4438650" y="46863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KTab"/>
          <p:cNvSpPr/>
          <p:nvPr/>
        </p:nvSpPr>
        <p:spPr>
          <a:xfrm>
            <a:off x="7219950" y="46863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KTab"/>
          <p:cNvSpPr/>
          <p:nvPr/>
        </p:nvSpPr>
        <p:spPr>
          <a:xfrm>
            <a:off x="10013950" y="46863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533271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Vélo'v &amp; recommandation multimodale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Vélo'v — disponibilité H+1h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encoding des 458 stations (au lieu de one-hot)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 : ~9 Go → ~500 Mo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: lags 1/2/3, rolling mean 3h, cycl. heure/jour, météo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dag_inference_velov (*/15min, 4,19,34,49) ; retrain_xgboost_velov horaire :50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309360" y="16002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de trajet — 5 modes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309360" y="2011680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Voiture — pgRouting pgr_dijkstra sur OSM réel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2350008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Bus/Tram — prédiction retard SIRI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2688336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Vélo'v — smart routing, maillage &lt; 200 m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09360" y="3026664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Marche — distance haversine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09360" y="3364992"/>
            <a:ext cx="5394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Métro — GTFS statique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822960" y="4480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composite final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48920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score(mode) = 0.5 × temps_normalisé + 0.3 × coût_normalisé + 0.2 × CO₂_normalisé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544068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Meilleur mode (score minimal) + alternatives classées — affiché dans Usager_1_Mon_Trajet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8" name="TitleAccent">
            <a:extLst>
              <a:ext uri="{FF2B5EF4-FFF2-40B4-BE49-F238E27FC236}">
                <a16:creationId xmlns:a16="http://schemas.microsoft.com/office/drawing/2014/main" id="{EFAA9215-39CF-3745-9AA6-1DB4E218BD53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anel"/>
          <p:cNvSpPr/>
          <p:nvPr/>
        </p:nvSpPr>
        <p:spPr>
          <a:xfrm>
            <a:off x="393700" y="1422400"/>
            <a:ext cx="11404600" cy="42291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L'API FastAPI de mise en production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548640" y="1554480"/>
          <a:ext cx="11091672" cy="4023360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96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Méthode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Endpoint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Rôle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/health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Liveness / readiness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/api/v1/models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Liste des modèles servis et versions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/api/v1/predict/traffic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Prédiction vitesse trafic (XGBoost H+1h)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/api/v1/predict/velov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Prédiction disponibilité Vélo'v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/api/v1/recommend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Recommandation de trajet (scoring composite)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/api/v1/itinerary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Itinéraire voiture (pgRouting sur OSM réel)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/api/v1/bottlenecks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Goulets d'infrastructure détectés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/api/v1/rgpd/request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Demande RGPD (accès / effacement)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/api/v1/auth/login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Authentification rôles Pro / Élu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Sécurisée par clé X-API-Key, rate limiting, instrumentée Prometheus (/metrics). Charge le modèle depuis MLflow Registry.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TitleAccent">
            <a:extLst>
              <a:ext uri="{FF2B5EF4-FFF2-40B4-BE49-F238E27FC236}">
                <a16:creationId xmlns:a16="http://schemas.microsoft.com/office/drawing/2014/main" id="{26B04E9E-3FB3-064E-9591-B154C9B898C9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921729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anel"/>
          <p:cNvSpPr/>
          <p:nvPr/>
        </p:nvSpPr>
        <p:spPr>
          <a:xfrm>
            <a:off x="393700" y="1422400"/>
            <a:ext cx="11404600" cy="47879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C3 —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des services — comment tout communique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4434840"/>
          </a:xfrm>
          <a:prstGeom prst="rect">
            <a:avLst/>
          </a:prstGeom>
          <a:solidFill>
            <a:srgbClr val="0C183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868680" y="1783080"/>
            <a:ext cx="1042416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A3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AIRFLOW  (L'Horloger — planifie tout, cadence 5 à 15 min)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6B7A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│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├── (A) Déclenche les pipelines de données  →  POSTGRESQL (La Base)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9F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│        Stocke Bronze / Silver / Gold, features, prédictions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6B7A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│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└── (B) Déclenche l'entraînement quotidien (03h38)  →  XGBoost H+1h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9F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Entraîne sur gold.traffic_features_live (26 features)</a:t>
            </a:r>
            <a:endParaRPr lang="en-US" sz="1250" dirty="0"/>
          </a:p>
          <a:p>
            <a:pPr marL="0" indent="0">
              <a:buNone/>
            </a:pP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(C) Modèle + métriques tracés  →  MLFLOW (Le Coffre — Model Registry)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(D) API FastAPI charge le modèle en stage Production depuis MLflow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(E) dag_inference_xgboost lit le modèle, écrit les prédictions (*/15min)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(F) STREAMLIT + API lisent PostgreSQL/MLflow pour servir les 3 personas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(G) NGINX (Le Portier) — seul point d'entrée public exposé (80/443)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itleAccent">
            <a:extLst>
              <a:ext uri="{FF2B5EF4-FFF2-40B4-BE49-F238E27FC236}">
                <a16:creationId xmlns:a16="http://schemas.microsoft.com/office/drawing/2014/main" id="{84BF9047-0147-E648-8899-EF504EB013F2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9648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 — MLOPS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de vie MLOps — comment tout s'articule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pipelines de données, le pipeline CI/CD et le monitoring ne sont pas des briques indépendantes : ils forment une boucle MLOps continue, sans intervention manuelle en fonctionnement normal.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731520" y="2633472"/>
            <a:ext cx="457200" cy="45720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731520" y="26334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25880" y="2606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+ transform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2461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→ Silver → Gold, */5 à */15 min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246888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4526280" y="2633472"/>
            <a:ext cx="457200" cy="457200"/>
          </a:xfrm>
          <a:prstGeom prst="ellipse">
            <a:avLst/>
          </a:prstGeom>
          <a:solidFill>
            <a:srgbClr val="1424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526280" y="26334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0" y="2606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Entraînement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26280" y="32461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dag_daily_speed_train 03h38 → MLflow Registry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38160" y="246888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8321040" y="2633472"/>
            <a:ext cx="457200" cy="457200"/>
          </a:xfrm>
          <a:prstGeom prst="ellipse">
            <a:avLst/>
          </a:prstGeom>
          <a:solidFill>
            <a:srgbClr val="14244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8321040" y="26334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915400" y="2606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Inférence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21040" y="32461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dag_inference_xgboost */15 min → trafic_predictions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02336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731520" y="4187952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731520" y="4187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25880" y="41605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31520" y="48006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PSI/Evidently, data quality, healthchecks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43400" y="402336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Shape 24"/>
          <p:cNvSpPr/>
          <p:nvPr/>
        </p:nvSpPr>
        <p:spPr>
          <a:xfrm>
            <a:off x="4526280" y="4187952"/>
            <a:ext cx="457200" cy="457200"/>
          </a:xfrm>
          <a:prstGeom prst="ellipse">
            <a:avLst/>
          </a:prstGeom>
          <a:solidFill>
            <a:srgbClr val="0E7C8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4526280" y="4187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120640" y="41605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Réentraînement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26280" y="48006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 suivant, données fraîches, boucle fermée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138160" y="402336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8321040" y="4187952"/>
            <a:ext cx="457200" cy="457200"/>
          </a:xfrm>
          <a:prstGeom prst="ellipse">
            <a:avLst/>
          </a:prstGeom>
          <a:solidFill>
            <a:srgbClr val="5B6B8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8321040" y="4187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915400" y="41605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(garde-fou)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480060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+ sécurité avant tout déploiement de code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56235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découplage entraînement/inférence/monitoring, avec CI/CD en garde-fou sur le code, est le principe MLOps central du projet (détail par compétence dans le document).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38" name="TitleAccent">
            <a:extLst>
              <a:ext uri="{FF2B5EF4-FFF2-40B4-BE49-F238E27FC236}">
                <a16:creationId xmlns:a16="http://schemas.microsoft.com/office/drawing/2014/main" id="{89CC7B73-A921-0142-98C9-FA42E625D429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CI/CD — GitHub Actions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002536" cy="2377440"/>
          </a:xfrm>
          <a:prstGeom prst="roundRect">
            <a:avLst>
              <a:gd name="adj" fmla="val 365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685800" y="18288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33172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78892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check + ruff format --check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85800" y="3703320"/>
            <a:ext cx="1682496" cy="29260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685800" y="3703320"/>
            <a:ext cx="16824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Bloquant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688336" y="1691640"/>
            <a:ext cx="2002536" cy="2377440"/>
          </a:xfrm>
          <a:prstGeom prst="roundRect">
            <a:avLst>
              <a:gd name="adj" fmla="val 365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2825496" y="18288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825496" y="233172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check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25496" y="278892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mypy src/ dags/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825496" y="3703320"/>
            <a:ext cx="1682496" cy="292608"/>
          </a:xfrm>
          <a:prstGeom prst="roundRect">
            <a:avLst>
              <a:gd name="adj" fmla="val 50000"/>
            </a:avLst>
          </a:prstGeom>
          <a:solidFill>
            <a:srgbClr val="5B6B8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2825496" y="3703320"/>
            <a:ext cx="16824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Report-only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828032" y="1691640"/>
            <a:ext cx="2002536" cy="2377440"/>
          </a:xfrm>
          <a:prstGeom prst="roundRect">
            <a:avLst>
              <a:gd name="adj" fmla="val 365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4965192" y="18288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965192" y="233172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65192" y="278892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bandit (HIGH bloquant), pip-audit, gitleaks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65192" y="3703320"/>
            <a:ext cx="1682496" cy="29260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965192" y="3703320"/>
            <a:ext cx="16824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967728" y="1691640"/>
            <a:ext cx="2002536" cy="2377440"/>
          </a:xfrm>
          <a:prstGeom prst="roundRect">
            <a:avLst>
              <a:gd name="adj" fmla="val 365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7104888" y="18288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104888" y="233172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104888" y="278892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service container PostGIS 16 réel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104888" y="3703320"/>
            <a:ext cx="1682496" cy="29260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Text 25"/>
          <p:cNvSpPr/>
          <p:nvPr/>
        </p:nvSpPr>
        <p:spPr>
          <a:xfrm>
            <a:off x="7104888" y="3703320"/>
            <a:ext cx="16824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Bloquant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107424" y="1691640"/>
            <a:ext cx="2002536" cy="2377440"/>
          </a:xfrm>
          <a:prstGeom prst="roundRect">
            <a:avLst>
              <a:gd name="adj" fmla="val 3653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9244584" y="18288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9244584" y="2331720"/>
            <a:ext cx="17739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244584" y="2788920"/>
            <a:ext cx="177393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des images Dockerfile*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244584" y="3703320"/>
            <a:ext cx="1682496" cy="29260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3" name="Text 31"/>
          <p:cNvSpPr/>
          <p:nvPr/>
        </p:nvSpPr>
        <p:spPr>
          <a:xfrm>
            <a:off x="9244584" y="3703320"/>
            <a:ext cx="16824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Bloquant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48640" y="44348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continu VPS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4800600"/>
            <a:ext cx="11064240" cy="1371600"/>
          </a:xfrm>
          <a:prstGeom prst="rect">
            <a:avLst/>
          </a:prstGeom>
          <a:solidFill>
            <a:srgbClr val="0C183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777240" y="4892040"/>
            <a:ext cx="106070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F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check-deploy-env       # vérifie .deploy.env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F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deploy-vps              # rsync + restart systemd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F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./scripts/healthcheck-vps.sh # 20 checks bout en bout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FE6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rollback-vps            # rollback si besoin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39" name="TitleAccent">
            <a:extLst>
              <a:ext uri="{FF2B5EF4-FFF2-40B4-BE49-F238E27FC236}">
                <a16:creationId xmlns:a16="http://schemas.microsoft.com/office/drawing/2014/main" id="{63E69001-B956-9C4E-9B20-C7A0682749C4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anel"/>
          <p:cNvSpPr/>
          <p:nvPr/>
        </p:nvSpPr>
        <p:spPr>
          <a:xfrm>
            <a:off x="393700" y="1422400"/>
            <a:ext cx="11404600" cy="38862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Réentraînement automatisé (Continuous Training)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548640" y="1554480"/>
          <a:ext cx="11091672" cy="3703320"/>
        </p:xfrm>
        <a:graphic>
          <a:graphicData uri="http://schemas.openxmlformats.org/drawingml/2006/table">
            <a:tbl>
              <a:tblPr/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13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DAG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Cadence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Rôle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État</a:t>
                      </a:r>
                      <a:endParaRPr lang="en-US" sz="11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dag_daily_speed_train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03h38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Entraîne XGBoost H+1h, logue MLflow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</a:rPr>
                        <a:t>actif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dag_inference_xgboost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*/15 min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Inférence pure → gold.trafic_predictions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</a:rPr>
                        <a:t>actif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dag_inference_velov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*/15 min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Inférence pure → gold.velov_predictions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</a:rPr>
                        <a:t>actif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retrain_xgboost_velov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:50/h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Entraîne XGBoost Vélo'v H+1h, logue MLflow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</a:rPr>
                        <a:t>actif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build_xgb_training_set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02h30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Training set matérialisé (self-join H+1h)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</a:rPr>
                        <a:t>actif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retrain_xgboost_speed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:25/h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Legacy — redondant avec dag_daily_speed_train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E8A33D"/>
                          </a:solidFill>
                        </a:rPr>
                        <a:t>pausé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refresh_xgb_vs_tomtom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:05,:35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MV cohérence XGB vs TomTom (support drift)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</a:rPr>
                        <a:t>actif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424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daily_drift_report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05h30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A4A"/>
                          </a:solidFill>
                        </a:rPr>
                        <a:t>Drift PSI + Evidently → réactivé 2026-07-01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E8B57"/>
                          </a:solidFill>
                        </a:rPr>
                        <a:t>actif</a:t>
                      </a:r>
                      <a:endParaRPr lang="en-US" sz="105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Découplage entraînement (lourd, nocturne) / inférence (léger, continu) — principe MLOps central. Garde anti-régression fail loud (pas de repli silencieux).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TitleAccent">
            <a:extLst>
              <a:ext uri="{FF2B5EF4-FFF2-40B4-BE49-F238E27FC236}">
                <a16:creationId xmlns:a16="http://schemas.microsoft.com/office/drawing/2014/main" id="{F6FD82B4-3AB0-E54D-A490-563BA1752F3C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95078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COMPÉTENCE C6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de la solution en production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modèle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(Population Stability Index) — moteur principal, zéro dépendance lourde, déterministe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Evidently — moteur optionnel, rapports HTML détaillés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daily_drift_report (05h30) — réactivé 2026-07-01 après pause en cascade de 25 jours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cas : modèle dégradé → retrain / changement réel du trafic → RAS / pas de dérive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72200" y="169164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142440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1874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331720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 + Telegram : watchdog 5 min, DAGs 30 min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Hystérésis 20 % / 15 %, alerte si backup échoue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: Prometheus + Grafana (compose prêt)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Métriques custom API (prédictions, latence, persona, DAGs, MLflow, DB)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FE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scripts/healthcheck-vps.sh — 33 contrôles bout en bout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12" name="TitleAccent">
            <a:extLst>
              <a:ext uri="{FF2B5EF4-FFF2-40B4-BE49-F238E27FC236}">
                <a16:creationId xmlns:a16="http://schemas.microsoft.com/office/drawing/2014/main" id="{99B6DEFD-8C31-D349-B079-D0BA1B7E0A4F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DÉJÀ EN PRODUCTION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VPS — pas une maquette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801368"/>
            <a:ext cx="2468880" cy="7543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vCPU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542032"/>
            <a:ext cx="2468880" cy="480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Go RAM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100 Go SSD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37560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801368"/>
            <a:ext cx="2468880" cy="7543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29000" y="2542032"/>
            <a:ext cx="2468880" cy="480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applicatifs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alertes Telegram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126480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801368"/>
            <a:ext cx="2468880" cy="7543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17920" y="2542032"/>
            <a:ext cx="2468880" cy="480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d'entrée public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1.27 (80/443)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15400" y="16916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06840" y="1801368"/>
            <a:ext cx="2468880" cy="7543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03h00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006840" y="2542032"/>
            <a:ext cx="2468880" cy="4800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DB quotidien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Google Drive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3375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Docker en production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7033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· minio · mlflow · airflow-webserver · airflow-scheduler (LocalExecutor) · api (FastAPI) · streamlit · nginx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monitoring : cron + alertes Telegram (cible : prometheus · grafana · alertmanager)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4663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Résilience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02920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Archivage silver.trafic_vitesse_propre par batchs vers MinIO Parquet (silver_archive_to_minio, 04h00)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Purge &amp; audit RGPD : rgpd.purge_log (migration_046)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: make rollback-vps restaure la dernière release saine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22" name="TitleAccent">
            <a:extLst>
              <a:ext uri="{FF2B5EF4-FFF2-40B4-BE49-F238E27FC236}">
                <a16:creationId xmlns:a16="http://schemas.microsoft.com/office/drawing/2014/main" id="{C6BBDFC2-C2D8-D34F-9AE3-BD1C254FC4F1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00" name="KTab"/>
          <p:cNvSpPr/>
          <p:nvPr/>
        </p:nvSpPr>
        <p:spPr>
          <a:xfrm>
            <a:off x="1644650" y="1663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KTab"/>
          <p:cNvSpPr/>
          <p:nvPr/>
        </p:nvSpPr>
        <p:spPr>
          <a:xfrm>
            <a:off x="4438650" y="1663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KTab"/>
          <p:cNvSpPr/>
          <p:nvPr/>
        </p:nvSpPr>
        <p:spPr>
          <a:xfrm>
            <a:off x="7219950" y="1663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KTab"/>
          <p:cNvSpPr/>
          <p:nvPr/>
        </p:nvSpPr>
        <p:spPr>
          <a:xfrm>
            <a:off x="10013950" y="1663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890131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SÉCURITÉ, GOUVERNANCE &amp; QUALITÉ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règles de sécurité + qualité logicielle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91640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87552" y="1655064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credential en dur (os.getenv + validation boot)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72200" y="1691640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8" name="Text 6"/>
          <p:cNvSpPr/>
          <p:nvPr/>
        </p:nvSpPr>
        <p:spPr>
          <a:xfrm>
            <a:off x="6172200" y="1691640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11112" y="1655064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paramétré partout (psycopg2 %s)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258568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258568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87552" y="222199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MLflow protégé (Basic auth via Nginx)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2258568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2258568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611112" y="222199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API obligatoire (X-API-Key) + rate limiting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2825496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825496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87552" y="278892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interne : 127.0.0.1, Nginx seul exposé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72200" y="2825496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0" name="Text 18"/>
          <p:cNvSpPr/>
          <p:nvPr/>
        </p:nvSpPr>
        <p:spPr>
          <a:xfrm>
            <a:off x="6172200" y="2825496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11112" y="278892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 par clé uniquement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392424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392424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87552" y="335584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secret dans Git (.gitignore + gitleaks CI)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72200" y="3392424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6" name="Text 24"/>
          <p:cNvSpPr/>
          <p:nvPr/>
        </p:nvSpPr>
        <p:spPr>
          <a:xfrm>
            <a:off x="6172200" y="3392424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11112" y="3355848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Conteneurs non-root (appuser)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3959352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3959352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987552" y="3922776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 : purge auditée (rgpd.purge_log), /rgpd/request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72200" y="3959352"/>
            <a:ext cx="347472" cy="292608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32" name="Text 30"/>
          <p:cNvSpPr/>
          <p:nvPr/>
        </p:nvSpPr>
        <p:spPr>
          <a:xfrm>
            <a:off x="6172200" y="3959352"/>
            <a:ext cx="347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611112" y="3922776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Clé Fernet Airflow générée (jamais en dur)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617720"/>
            <a:ext cx="11064240" cy="18288"/>
          </a:xfrm>
          <a:prstGeom prst="rect">
            <a:avLst/>
          </a:prstGeom>
          <a:solidFill>
            <a:srgbClr val="E3E8EE"/>
          </a:solidFill>
          <a:ln/>
        </p:spPr>
      </p:sp>
      <p:sp>
        <p:nvSpPr>
          <p:cNvPr id="35" name="Text 33"/>
          <p:cNvSpPr/>
          <p:nvPr/>
        </p:nvSpPr>
        <p:spPr>
          <a:xfrm>
            <a:off x="548640" y="47548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logicielle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548640" y="512064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40080" y="5230368"/>
            <a:ext cx="2423160" cy="62865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42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631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40080" y="5829300"/>
            <a:ext cx="242316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automatisés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passants (2026-09-24)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91840" y="512064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3383280" y="5230368"/>
            <a:ext cx="2423160" cy="62865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3383280" y="5829300"/>
            <a:ext cx="242316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 test_*.py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035040" y="512064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126480" y="5230368"/>
            <a:ext cx="2423160" cy="62865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126480" y="5829300"/>
            <a:ext cx="242316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ruff/mypy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 bloquant)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778240" y="5120640"/>
            <a:ext cx="26060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8869680" y="5230368"/>
            <a:ext cx="2423160" cy="62865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PostGIS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8869680" y="5829300"/>
            <a:ext cx="242316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réel en CI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(pas de mock)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50" name="TitleAccent">
            <a:extLst>
              <a:ext uri="{FF2B5EF4-FFF2-40B4-BE49-F238E27FC236}">
                <a16:creationId xmlns:a16="http://schemas.microsoft.com/office/drawing/2014/main" id="{BA1B332E-7757-2B4C-8133-0BF3A4DE4F99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00" name="KTab"/>
          <p:cNvSpPr/>
          <p:nvPr/>
        </p:nvSpPr>
        <p:spPr>
          <a:xfrm>
            <a:off x="1619250" y="5092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1" name="KTab"/>
          <p:cNvSpPr/>
          <p:nvPr/>
        </p:nvSpPr>
        <p:spPr>
          <a:xfrm>
            <a:off x="4362450" y="5092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2" name="KTab"/>
          <p:cNvSpPr/>
          <p:nvPr/>
        </p:nvSpPr>
        <p:spPr>
          <a:xfrm>
            <a:off x="7105650" y="5092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3" name="KTab"/>
          <p:cNvSpPr/>
          <p:nvPr/>
        </p:nvSpPr>
        <p:spPr>
          <a:xfrm>
            <a:off x="9848850" y="5092700"/>
            <a:ext cx="457200" cy="50800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919950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TRAJECTOIRE D'ÉVOLUTION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Prochaines étapes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COURT TERME (EN COURS)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28600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6 — qualité des données (priorité 1 post-certification)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333756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 TomTom — backtest MAE croisé XGBoost vs oracle externe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Axes 2/4/7 — propagation congestion, report modal, météo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343400" y="16916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 TERME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210312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228600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: Kustomize, HPA+Ingress, cert-manager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26280" y="333756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ServiceMonitor Prometheus natif K8s, Velero, Helm Airflow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26280" y="43891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 kubernetes dormante — manifestes déjà prêts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138160" y="169164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TERME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38160" y="210312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6F8FA"/>
          </a:solidFill>
          <a:ln w="12700">
            <a:solidFill>
              <a:srgbClr val="E3E8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228600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spatial en complément de XGBoost H+1h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321040" y="333756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Graphe de dépendances inter-capteurs — étude de faisabilité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321040" y="438912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▸"/>
            </a:pPr>
            <a:r>
              <a:rPr lang="en-US" sz="11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multi-métropole (sources Open Data similaires)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21" name="TitleAccent">
            <a:extLst>
              <a:ext uri="{FF2B5EF4-FFF2-40B4-BE49-F238E27FC236}">
                <a16:creationId xmlns:a16="http://schemas.microsoft.com/office/drawing/2014/main" id="{B86E05C4-07E3-0A45-ADB9-16C2803EFFB1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Panel"/>
          <p:cNvSpPr/>
          <p:nvPr/>
        </p:nvSpPr>
        <p:spPr>
          <a:xfrm>
            <a:off x="393700" y="1422400"/>
            <a:ext cx="11404600" cy="4572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Text 0"/>
          <p:cNvSpPr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RÉFÉRENTIEL RNCP38777 BC04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de correspondance des compétences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/>
        </p:nvGraphicFramePr>
        <p:xfrm>
          <a:off x="548640" y="1554480"/>
          <a:ext cx="11091672" cy="4352544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94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Compétence attestée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Preuve dans le dépôt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4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</a:rPr>
                        <a:t>C1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</a:rPr>
                        <a:t>Cahier des charges (besoins, accessibilité)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DOCUMENTATION §2, a11y.py, plotly_theme.py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</a:rPr>
                        <a:t>C2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</a:rPr>
                        <a:t>Algorithme d'IA adapté aux données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xgboost_speed.py, xgboost_velov.py, MLflow Registry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</a:rPr>
                        <a:t>C3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</a:rPr>
                        <a:t>API pour la mise en production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src/api/main.py, metrics.py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</a:rPr>
                        <a:t>C4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</a:rPr>
                        <a:t>Pipelines CI/CD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ci.yml, Makefile, Dockerfile*, docker-compose*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</a:rPr>
                        <a:t>C5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</a:rPr>
                        <a:t>Scripts de réentraînement automatisés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dag_daily_speed_train, dag_inference_*, MLflow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E7C86"/>
                          </a:solidFill>
                        </a:rPr>
                        <a:t>C6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A4A"/>
                          </a:solidFill>
                        </a:rPr>
                        <a:t>Monitoring de la performance (Evidently)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8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src/monitoring/, daily_drift_report, healthcheck-vps.sh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TitleAccent">
            <a:extLst>
              <a:ext uri="{FF2B5EF4-FFF2-40B4-BE49-F238E27FC236}">
                <a16:creationId xmlns:a16="http://schemas.microsoft.com/office/drawing/2014/main" id="{600063A6-2452-5F48-9908-A0E9045CB5B0}"/>
              </a:ext>
            </a:extLst>
          </p:cNvPr>
          <p:cNvSpPr/>
          <p:nvPr/>
        </p:nvSpPr>
        <p:spPr>
          <a:xfrm>
            <a:off x="393700" y="355600"/>
            <a:ext cx="63500" cy="1016000"/>
          </a:xfrm>
          <a:prstGeom prst="roundRect">
            <a:avLst/>
          </a:prstGeom>
          <a:solidFill>
            <a:srgbClr val="0E7C8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26381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C18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371600"/>
            <a:ext cx="4572000" cy="4572000"/>
          </a:xfrm>
          <a:prstGeom prst="ellipse">
            <a:avLst/>
          </a:prstGeom>
          <a:solidFill>
            <a:srgbClr val="142440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46304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questions 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8686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n'est pas une preuve de concept : c'est un système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production continue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C7D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un VPS unique, couvrant les 6 compétences du Bloc 4.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84048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3950208"/>
            <a:ext cx="2423160" cy="7040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4634179"/>
            <a:ext cx="2423160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DAGs orchestrés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384048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11880" y="3950208"/>
            <a:ext cx="2423160" cy="7040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611880" y="4634179"/>
            <a:ext cx="2423160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passants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384048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3950208"/>
            <a:ext cx="2423160" cy="7040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0" y="4634179"/>
            <a:ext cx="2423160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/ 3 personas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3840480"/>
            <a:ext cx="2606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8EE"/>
            </a:solidFill>
            <a:prstDash val="solid"/>
          </a:ln>
          <a:effectLst>
            <a:outerShdw blurRad="101600" dist="38100" dir="5400000" algn="bl" rotWithShape="0">
              <a:srgbClr val="14244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89720" y="3950208"/>
            <a:ext cx="2423160" cy="7040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189720" y="4634179"/>
            <a:ext cx="2423160" cy="448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trafic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unique, sobre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5577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— Patrice DUCLOS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LyonFlow — RNCP 38777 BC04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5A7949B-47E2-8641-A8D0-6EB636D86D8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068e7922-6db2-4140-a57c-5679c9f8ea3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2537</Words>
  <Application>Microsoft Macintosh PowerPoint</Application>
  <PresentationFormat>Grand écran</PresentationFormat>
  <Paragraphs>470</Paragraphs>
  <Slides>21</Slides>
  <Notes>21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LyonFlow — Bloc 4 RNCP 38777 — Soutenance (v2)</dc:title>
  <dc:subject>PptxGenJS Presentation</dc:subject>
  <dc:creator>Patrice DUCLOS</dc:creator>
  <cp:lastModifiedBy>Patrice DUCLOS</cp:lastModifiedBy>
  <cp:revision>3</cp:revision>
  <dcterms:created xsi:type="dcterms:W3CDTF">2026-07-11T07:53:59Z</dcterms:created>
  <dcterms:modified xsi:type="dcterms:W3CDTF">2026-07-23T12:01:29Z</dcterms:modified>
</cp:coreProperties>
</file>