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7" r:id="rId3"/>
    <p:sldId id="278" r:id="rId4"/>
    <p:sldId id="279" r:id="rId5"/>
    <p:sldId id="280" r:id="rId6"/>
    <p:sldId id="287" r:id="rId7"/>
    <p:sldId id="284" r:id="rId8"/>
    <p:sldId id="285" r:id="rId9"/>
    <p:sldId id="288" r:id="rId10"/>
    <p:sldId id="265" r:id="rId11"/>
    <p:sldId id="281" r:id="rId12"/>
    <p:sldId id="286" r:id="rId13"/>
    <p:sldId id="268" r:id="rId14"/>
    <p:sldId id="269" r:id="rId15"/>
    <p:sldId id="282" r:id="rId16"/>
    <p:sldId id="271" r:id="rId17"/>
    <p:sldId id="289" r:id="rId18"/>
    <p:sldId id="290" r:id="rId19"/>
    <p:sldId id="274" r:id="rId20"/>
    <p:sldId id="283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60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216" y="3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77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4244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114800"/>
            <a:ext cx="2926080" cy="292608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38777 — ARCHITECTE EN INTELLIGENCE ARTIFICIELLE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 — Construire, déployer et piloter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solutions d'IA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MLOps de prédiction et d'analyse du trafic multimodal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Métropole de Lyon — en production sur VPS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Patrice DUCLOS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Analyst — Candidat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en production continue sur VPS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olumns Panel"/>
          <p:cNvSpPr/>
          <p:nvPr/>
        </p:nvSpPr>
        <p:spPr>
          <a:xfrm>
            <a:off x="393700" y="1524000"/>
            <a:ext cx="11404600" cy="345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Divider 1"/>
          <p:cNvSpPr/>
          <p:nvPr/>
        </p:nvSpPr>
        <p:spPr>
          <a:xfrm>
            <a:off x="4229100" y="1905000"/>
            <a:ext cx="15240" cy="2819400"/>
          </a:xfrm>
          <a:prstGeom prst="rect">
            <a:avLst/>
          </a:prstGeom>
          <a:solidFill>
            <a:srgbClr val="E3E8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Divider 2"/>
          <p:cNvSpPr/>
          <p:nvPr/>
        </p:nvSpPr>
        <p:spPr>
          <a:xfrm>
            <a:off x="8026400" y="1905000"/>
            <a:ext cx="15240" cy="2819400"/>
          </a:xfrm>
          <a:prstGeom prst="rect">
            <a:avLst/>
          </a:prstGeom>
          <a:solidFill>
            <a:srgbClr val="E3E8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— COMPÉTENCE C1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trafic à Lyon : un problème multimodal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Métropole de Lyon : réseau multimodal (voiture, TCL, Vélo'v)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71576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1 520 capteurs trafic actifs (boucles Grand Lyon)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37413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SIRI Lite TCL, GBFS Vélo'v, météo, qualité de l'air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03250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sources Open Data temps réel, cadence 5 à 15 min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4340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2057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Waze/TomTom/HERE : chaque mode traité en silo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43400" y="271576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croisement bus × trafic × Vélo'v entre eux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43400" y="337413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prédiction court terme fiable (H+1h)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43400" y="403250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publics hétérogènes : Usager, Pro TCL, Élu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MLOPS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8160" y="2057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 automatisé et reproductible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38160" y="271576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+ MLflow + Git — tout rejouable, tout tracé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38160" y="337413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H+1h en production continue (pas une PoC)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38160" y="403250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sobre — VPS unique, 6 vCPU / 12 Go RAM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536752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5909767"/>
            <a:ext cx="24688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servis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5257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429000" y="536752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429000" y="5909767"/>
            <a:ext cx="24688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Streamlit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5257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217920" y="536752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0" y="5909767"/>
            <a:ext cx="24688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open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15400" y="5257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9006840" y="536752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006840" y="5909767"/>
            <a:ext cx="24688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en production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0" name="Title Accent"/>
          <p:cNvSpPr/>
          <p:nvPr/>
        </p:nvSpPr>
        <p:spPr>
          <a:xfrm>
            <a:off x="393700" y="355600"/>
            <a:ext cx="63500" cy="10160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Head Underline 0"/>
          <p:cNvSpPr/>
          <p:nvPr/>
        </p:nvSpPr>
        <p:spPr>
          <a:xfrm>
            <a:off x="546100" y="2019300"/>
            <a:ext cx="43180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Head Underline 1"/>
          <p:cNvSpPr/>
          <p:nvPr/>
        </p:nvSpPr>
        <p:spPr>
          <a:xfrm>
            <a:off x="4343400" y="2019300"/>
            <a:ext cx="43180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Head Underline 2"/>
          <p:cNvSpPr/>
          <p:nvPr/>
        </p:nvSpPr>
        <p:spPr>
          <a:xfrm>
            <a:off x="8140700" y="2019300"/>
            <a:ext cx="43180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KPI Tab 0"/>
          <p:cNvSpPr/>
          <p:nvPr/>
        </p:nvSpPr>
        <p:spPr>
          <a:xfrm>
            <a:off x="1644650" y="5219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142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KPI Tab 1"/>
          <p:cNvSpPr/>
          <p:nvPr/>
        </p:nvSpPr>
        <p:spPr>
          <a:xfrm>
            <a:off x="4438650" y="5219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KPI Tab 2"/>
          <p:cNvSpPr/>
          <p:nvPr/>
        </p:nvSpPr>
        <p:spPr>
          <a:xfrm>
            <a:off x="7219950" y="5219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KPI Tab 3"/>
          <p:cNvSpPr/>
          <p:nvPr/>
        </p:nvSpPr>
        <p:spPr>
          <a:xfrm>
            <a:off x="10013950" y="5219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4558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ard 0"/>
          <p:cNvSpPr/>
          <p:nvPr/>
        </p:nvSpPr>
        <p:spPr>
          <a:xfrm>
            <a:off x="101600" y="3009900"/>
            <a:ext cx="4038600" cy="369570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>
            <a:outerShdw blurRad="70000" dist="25400" dir="5400000" rotWithShape="0">
              <a:srgbClr val="14244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1" name="Card 1"/>
          <p:cNvSpPr/>
          <p:nvPr/>
        </p:nvSpPr>
        <p:spPr>
          <a:xfrm>
            <a:off x="4165600" y="3009900"/>
            <a:ext cx="3873500" cy="369570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>
            <a:outerShdw blurRad="70000" dist="25400" dir="5400000" rotWithShape="0">
              <a:srgbClr val="14244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2" name="Card 2"/>
          <p:cNvSpPr/>
          <p:nvPr/>
        </p:nvSpPr>
        <p:spPr>
          <a:xfrm>
            <a:off x="8051800" y="3009900"/>
            <a:ext cx="4038600" cy="369570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>
            <a:outerShdw blurRad="70000" dist="25400" dir="5400000" rotWithShape="0">
              <a:srgbClr val="14244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Streamlit — trois personas, une plateforme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multi-pages : Usager (trajet multimodal), Pro TCL (supervision réseau), Élu (synthèse décisionnelle). Captures à insérer depuis le dashboard en production.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À INSÉRER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Usager_1_Mon_Trajet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trajet multimodal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5989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réseau temps réel (Keolis)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5989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décisionnelle Grand Lyon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6C79CA3D-9116-9AA3-DCB9-F4F592F6E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57" y="3117079"/>
            <a:ext cx="3960303" cy="215125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BACD727F-5B6C-13DD-EE30-6FEFFF12B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620" y="3099141"/>
            <a:ext cx="3794760" cy="2166055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65C85CD-F0EE-2EFD-56B6-77FFFB394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099141"/>
            <a:ext cx="3960303" cy="2187136"/>
          </a:xfrm>
          <a:prstGeom prst="rect">
            <a:avLst/>
          </a:prstGeom>
        </p:spPr>
      </p:pic>
      <p:sp>
        <p:nvSpPr>
          <p:cNvPr id="310" name="Title Accent"/>
          <p:cNvSpPr/>
          <p:nvPr/>
        </p:nvSpPr>
        <p:spPr>
          <a:xfrm>
            <a:off x="393700" y="355600"/>
            <a:ext cx="63500" cy="10160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Cap Accent 0"/>
          <p:cNvSpPr/>
          <p:nvPr/>
        </p:nvSpPr>
        <p:spPr>
          <a:xfrm>
            <a:off x="1905000" y="5626100"/>
            <a:ext cx="43180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Cap Accent 1"/>
          <p:cNvSpPr/>
          <p:nvPr/>
        </p:nvSpPr>
        <p:spPr>
          <a:xfrm>
            <a:off x="5880100" y="5626100"/>
            <a:ext cx="43180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Cap Accent 2"/>
          <p:cNvSpPr/>
          <p:nvPr/>
        </p:nvSpPr>
        <p:spPr>
          <a:xfrm>
            <a:off x="9855200" y="5626100"/>
            <a:ext cx="43180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476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anel A"/>
          <p:cNvSpPr/>
          <p:nvPr/>
        </p:nvSpPr>
        <p:spPr>
          <a:xfrm>
            <a:off x="355600" y="4089400"/>
            <a:ext cx="5791200" cy="2349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1" name="Panel B"/>
          <p:cNvSpPr/>
          <p:nvPr/>
        </p:nvSpPr>
        <p:spPr>
          <a:xfrm>
            <a:off x="6109815" y="4213225"/>
            <a:ext cx="5791200" cy="2349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C1 — CAHIER DES CHARGES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personas, des besoins vérifiables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public lyonnais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trajet multimodal (temps / coût / CO₂)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61772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TCL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réseau (Keolis)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Superviser le réseau, détecter retards et goulets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45820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Élu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5820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Décideurs Grand Lyon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58200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décisionnelle, diagnostic infra, rapport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5820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techniques &amp; économiques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: ingestion */5min, inférence */15min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: Airflow + MLflow + Git, tout rejouable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: politique « zéro mock » — DashboardDataError explicite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Open Data gratuites — coût d'infra maîtrisé (VPS unique)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(exigence explicite C1+C2)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6177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alternatifs Plotly (a11y.py, plotly_with_alt)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contraste élevé, sémantique couleurs documentée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Libellés lisibles pour profils non techniques (élus, public)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Usager en accès libre ; Pro/Élu protégés par authentification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0" name="Title Accent"/>
          <p:cNvSpPr/>
          <p:nvPr/>
        </p:nvSpPr>
        <p:spPr>
          <a:xfrm>
            <a:off x="393700" y="355600"/>
            <a:ext cx="63500" cy="10160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" name="Persona Underline 0"/>
          <p:cNvSpPr/>
          <p:nvPr/>
        </p:nvSpPr>
        <p:spPr>
          <a:xfrm>
            <a:off x="1004945" y="2277110"/>
            <a:ext cx="43180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2" name="Persona Underline 1"/>
          <p:cNvSpPr/>
          <p:nvPr/>
        </p:nvSpPr>
        <p:spPr>
          <a:xfrm>
            <a:off x="4904740" y="2261235"/>
            <a:ext cx="43180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3" name="Persona Underline 2"/>
          <p:cNvSpPr/>
          <p:nvPr/>
        </p:nvSpPr>
        <p:spPr>
          <a:xfrm>
            <a:off x="8537141" y="2261235"/>
            <a:ext cx="43180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4" name="Section Underline 0"/>
          <p:cNvSpPr/>
          <p:nvPr/>
        </p:nvSpPr>
        <p:spPr>
          <a:xfrm>
            <a:off x="1684166" y="4572000"/>
            <a:ext cx="508000" cy="317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5" name="Section Underline 1"/>
          <p:cNvSpPr/>
          <p:nvPr/>
        </p:nvSpPr>
        <p:spPr>
          <a:xfrm>
            <a:off x="7721600" y="4577715"/>
            <a:ext cx="508000" cy="45719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419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anel"/>
          <p:cNvSpPr/>
          <p:nvPr/>
        </p:nvSpPr>
        <p:spPr>
          <a:xfrm>
            <a:off x="393700" y="1422400"/>
            <a:ext cx="11404600" cy="4876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554480"/>
          <a:ext cx="11091672" cy="462686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Couche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Technologie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2440"/>
                          </a:solidFill>
                        </a:rPr>
                        <a:t>Orchestration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Apache Airflow 2.9 — LocalExecutor (Redis/Celery retirés Sprint 15+)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2440"/>
                          </a:solidFill>
                        </a:rPr>
                        <a:t>Base de données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PostgreSQL 16 + PostGIS 3.5 + pgRouting 3.7.3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2440"/>
                          </a:solidFill>
                        </a:rPr>
                        <a:t>ML tracking / registry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MLflow 2.12.1 — 6 modèles versionnés, stage Production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2440"/>
                          </a:solidFill>
                        </a:rPr>
                        <a:t>ML trafic &amp; Vélo'v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XGBoost H+1h — modèle réactif, léger, découplé entraînement/inférence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2440"/>
                          </a:solidFill>
                        </a:rPr>
                        <a:t>Routing voiture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pgRouting pgr_dijkstra sur réseau routier OSM réel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2440"/>
                          </a:solidFill>
                        </a:rPr>
                        <a:t>API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FastAPI — X-API-Key, rate limiting, /metrics Prometheus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2440"/>
                          </a:solidFill>
                        </a:rPr>
                        <a:t>Dashboard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Streamlit multi-pages — socle UX + accessibilité unifiés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2440"/>
                          </a:solidFill>
                        </a:rPr>
                        <a:t>Monitoring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Cron + alertes Telegram (cible : Prometheus/Grafana)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2440"/>
                          </a:solidFill>
                        </a:rPr>
                        <a:t>Reverse proxy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Nginx 1.27 — seul service exposé publiquement (80/443)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2440"/>
                          </a:solidFill>
                        </a:rPr>
                        <a:t>CI/CD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</a:rPr>
                        <a:t>GitHub Actions — 5 jobs (lint, typecheck, security, test, docker-build)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itleAccent">
            <a:extLst>
              <a:ext uri="{FF2B5EF4-FFF2-40B4-BE49-F238E27FC236}">
                <a16:creationId xmlns:a16="http://schemas.microsoft.com/office/drawing/2014/main" id="{B339C31F-3D47-CA4B-8DF2-F5406D0991DF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5688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Medallion — vue d'ensemble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502920"/>
          </a:xfrm>
          <a:prstGeom prst="rect">
            <a:avLst/>
          </a:prstGeom>
          <a:solidFill>
            <a:srgbClr val="1424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tables + 2 vues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brute immuable — 9 sources temps réel (dont vigilance météo, nouveau)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69080" y="26517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520440" cy="5029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89120" y="1691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7889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dédup, normalisation géo (4326 + 2154)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09560" y="26517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229600" y="1691640"/>
            <a:ext cx="3520440" cy="5029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229600" y="1691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 tables + vues mat.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27889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ML, prédictions, vues décisionnelles multimodales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080" y="4727448"/>
            <a:ext cx="242316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5496458"/>
            <a:ext cx="242316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Airflow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 actifs + 2 pausés)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383280" y="4727448"/>
            <a:ext cx="242316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383280" y="5496458"/>
            <a:ext cx="242316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ingérées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(dont vigilance météo, nouveau)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126480" y="4727448"/>
            <a:ext cx="242316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41 737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26480" y="5496458"/>
            <a:ext cx="242316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arêtes OSM couvertes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les capteurs trafic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77824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869680" y="4727448"/>
            <a:ext cx="242316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869680" y="5496458"/>
            <a:ext cx="242316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versionnées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itleAccent">
            <a:extLst>
              <a:ext uri="{FF2B5EF4-FFF2-40B4-BE49-F238E27FC236}">
                <a16:creationId xmlns:a16="http://schemas.microsoft.com/office/drawing/2014/main" id="{82C5EA96-6C0E-6C48-B82A-B9663D4DE1B6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00" name="KTab"/>
          <p:cNvSpPr/>
          <p:nvPr/>
        </p:nvSpPr>
        <p:spPr>
          <a:xfrm>
            <a:off x="1619250" y="45974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KTab"/>
          <p:cNvSpPr/>
          <p:nvPr/>
        </p:nvSpPr>
        <p:spPr>
          <a:xfrm>
            <a:off x="4362450" y="45974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KTab"/>
          <p:cNvSpPr/>
          <p:nvPr/>
        </p:nvSpPr>
        <p:spPr>
          <a:xfrm>
            <a:off x="7105650" y="45974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KTab"/>
          <p:cNvSpPr/>
          <p:nvPr/>
        </p:nvSpPr>
        <p:spPr>
          <a:xfrm>
            <a:off x="9848850" y="45974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966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ImgFrame"/>
          <p:cNvSpPr/>
          <p:nvPr/>
        </p:nvSpPr>
        <p:spPr>
          <a:xfrm>
            <a:off x="2781300" y="1447800"/>
            <a:ext cx="6616700" cy="4838700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>
            <a:outerShdw blurRad="70000" dist="25400" dir="5400000" rotWithShape="0">
              <a:srgbClr val="14244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détaillé — flux Medallion complet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Picture 6" descr="01_flux_donnees_medall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661" y="1569129"/>
            <a:ext cx="6363629" cy="4588422"/>
          </a:xfrm>
          <a:prstGeom prst="rect">
            <a:avLst/>
          </a:prstGeom>
        </p:spPr>
      </p:pic>
      <p:sp>
        <p:nvSpPr>
          <p:cNvPr id="4" name="TitleAccent">
            <a:extLst>
              <a:ext uri="{FF2B5EF4-FFF2-40B4-BE49-F238E27FC236}">
                <a16:creationId xmlns:a16="http://schemas.microsoft.com/office/drawing/2014/main" id="{17DF7A1E-54EA-BD4C-AC52-4E2A4ACAA9DE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3207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ImgFrame"/>
          <p:cNvSpPr/>
          <p:nvPr/>
        </p:nvSpPr>
        <p:spPr>
          <a:xfrm>
            <a:off x="3581400" y="1244600"/>
            <a:ext cx="5029200" cy="5194300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>
            <a:outerShdw blurRad="70000" dist="25400" dir="5400000" rotWithShape="0">
              <a:srgbClr val="14244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— de l'ingestion au service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Picture 6" descr="04_pipeline_air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66" y="1371600"/>
            <a:ext cx="4773019" cy="4937760"/>
          </a:xfrm>
          <a:prstGeom prst="rect">
            <a:avLst/>
          </a:prstGeom>
        </p:spPr>
      </p:pic>
      <p:sp>
        <p:nvSpPr>
          <p:cNvPr id="4" name="TitleAccent">
            <a:extLst>
              <a:ext uri="{FF2B5EF4-FFF2-40B4-BE49-F238E27FC236}">
                <a16:creationId xmlns:a16="http://schemas.microsoft.com/office/drawing/2014/main" id="{E7A4FA4C-164C-5E43-B583-7E83D5775F88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125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H+1h — modèle trafic unique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18520" cy="1874520"/>
          </a:xfrm>
          <a:prstGeom prst="roundRect">
            <a:avLst>
              <a:gd name="adj" fmla="val 3902"/>
            </a:avLst>
          </a:prstGeom>
          <a:solidFill>
            <a:srgbClr val="1424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H+1h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seul modèle trafic en production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features (temporel, météo, lags, rolling mean) issues de gold.traffic_features_live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Découplage entraînement (1×/j, 03h38, dag_daily_speed_train) / inférence (*/15min, dag_inference_xgboost)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d'architecture : sur un VPS à 6 vCPU, un modèle unique léger et réactif — plutôt qu'un ensemble de modèles lourds — donne la meilleure fiabilité de service pour la contrainte de ressources fixée au cahier des charges (§2.3).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481888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5361127"/>
            <a:ext cx="24688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(traffic_features_live)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4709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29000" y="481888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03h38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5361127"/>
            <a:ext cx="24688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quotidien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dag_daily_speed_train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4709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217920" y="481888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*/15min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5361127"/>
            <a:ext cx="24688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dag_inference_xgboost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15400" y="4709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006840" y="481888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06840" y="5361127"/>
            <a:ext cx="24688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MLflow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Production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TitleAccent">
            <a:extLst>
              <a:ext uri="{FF2B5EF4-FFF2-40B4-BE49-F238E27FC236}">
                <a16:creationId xmlns:a16="http://schemas.microsoft.com/office/drawing/2014/main" id="{2ED57C5C-166F-9240-B192-A060EDDF3A7D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00" name="KTab"/>
          <p:cNvSpPr/>
          <p:nvPr/>
        </p:nvSpPr>
        <p:spPr>
          <a:xfrm>
            <a:off x="1644650" y="46863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KTab"/>
          <p:cNvSpPr/>
          <p:nvPr/>
        </p:nvSpPr>
        <p:spPr>
          <a:xfrm>
            <a:off x="4438650" y="46863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KTab"/>
          <p:cNvSpPr/>
          <p:nvPr/>
        </p:nvSpPr>
        <p:spPr>
          <a:xfrm>
            <a:off x="7219950" y="46863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KTab"/>
          <p:cNvSpPr/>
          <p:nvPr/>
        </p:nvSpPr>
        <p:spPr>
          <a:xfrm>
            <a:off x="10013950" y="46863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3327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Vélo'v &amp; recommandation multimodale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Vélo'v — disponibilité H+1h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des 458 stations (au lieu de one-hot)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: ~9 Go → ~500 Mo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: lags 1/2/3, rolling mean 3h, cycl. heure/jour, météo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dag_inference_velov (*/15min, 4,19,34,49) ; retrain_xgboost_velov horaire :50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trajet — 5 modes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2011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— pgRouting pgr_dijkstra sur OSM réel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23500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Bus/Tram — prédiction retard SIRI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268833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Vélo'v — smart routing, maillage &lt; 200 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302666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— distance haversine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3364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Métro — GTFS statique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composite final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score(mode) = 0.5 × temps_normalisé + 0.3 × coût_normalisé + 0.2 × CO₂_normalisé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Meilleur mode (score minimal) + alternatives classées — affiché dans Usager_1_Mon_Trajet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itleAccent">
            <a:extLst>
              <a:ext uri="{FF2B5EF4-FFF2-40B4-BE49-F238E27FC236}">
                <a16:creationId xmlns:a16="http://schemas.microsoft.com/office/drawing/2014/main" id="{EFAA9215-39CF-3745-9AA6-1DB4E218BD53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anel"/>
          <p:cNvSpPr/>
          <p:nvPr/>
        </p:nvSpPr>
        <p:spPr>
          <a:xfrm>
            <a:off x="393700" y="1422400"/>
            <a:ext cx="11404600" cy="42291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FastAPI de mise en production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554480"/>
          <a:ext cx="11091672" cy="40233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Méthode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/health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 / readiness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/api/v1/models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des modèles servis et versions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/api/v1/predict/traffic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Prédiction vitesse trafic (XGBoost H+1h)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/api/v1/predict/velov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Prédiction disponibilité Vélo'v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/api/v1/recommend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 de trajet (scoring composite)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/api/v1/itinerary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Itinéraire voiture (pgRouting sur OSM réel)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/api/v1/bottlenecks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Goulets d'infrastructure détectés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/api/v1/rgpd/request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 RGPD (accès / effacement)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/api/v1/auth/login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 rôles Pro / Élu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Sécurisée par clé X-API-Key, rate limiting, instrumentée Prometheus (/metrics). Charge le modèle depuis MLflow Registry.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itleAccent">
            <a:extLst>
              <a:ext uri="{FF2B5EF4-FFF2-40B4-BE49-F238E27FC236}">
                <a16:creationId xmlns:a16="http://schemas.microsoft.com/office/drawing/2014/main" id="{26B04E9E-3FB3-064E-9591-B154C9B898C9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2172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anel"/>
          <p:cNvSpPr/>
          <p:nvPr/>
        </p:nvSpPr>
        <p:spPr>
          <a:xfrm>
            <a:off x="393700" y="1422400"/>
            <a:ext cx="11404600" cy="4787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C3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 services — comment tout communique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434840"/>
          </a:xfrm>
          <a:prstGeom prst="rect">
            <a:avLst/>
          </a:prstGeom>
          <a:solidFill>
            <a:srgbClr val="0C18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424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  (L'Horloger — planifie tout, cadence 5 à 15 min)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├── (A) Déclenche les pipelines de données  →  POSTGRESQL (La Base)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    Stocke Bronze / Silver / Gold, features, prédictions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└── (B) Déclenche l'entraînement quotidien (03h38)  →  XGBoost H+1h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Entraîne sur gold.traffic_features_live (26 features)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(C) Modèle + métriques tracés  →  MLFLOW (Le Coffre — Model Registry)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(D) API FastAPI charge le modèle en stage Production depuis MLflow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(E) dag_inference_xgboost lit le modèle, écrit les prédictions (*/15min)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(F) STREAMLIT + API lisent PostgreSQL/MLflow pour servir les 3 personas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(G) NGINX (Le Portier) — seul point d'entrée public exposé (80/443)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itleAccent">
            <a:extLst>
              <a:ext uri="{FF2B5EF4-FFF2-40B4-BE49-F238E27FC236}">
                <a16:creationId xmlns:a16="http://schemas.microsoft.com/office/drawing/2014/main" id="{84BF9047-0147-E648-8899-EF504EB013F2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964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MLOPS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MLOps — comment tout s'articule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pipelines de données, le pipeline CI/CD et le monitoring ne sont pas des briques indépendantes : ils forment une boucle MLOps continue, sans intervention manuelle en fonctionnement normal.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263347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transform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Gold, */5 à */15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526280" y="2633472"/>
            <a:ext cx="457200" cy="457200"/>
          </a:xfrm>
          <a:prstGeom prst="ellipse">
            <a:avLst/>
          </a:prstGeom>
          <a:solidFill>
            <a:srgbClr val="1424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2628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dag_daily_speed_train 03h38 → MLflow Registry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2468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321040" y="2633472"/>
            <a:ext cx="457200" cy="457200"/>
          </a:xfrm>
          <a:prstGeom prst="ellipse">
            <a:avLst/>
          </a:prstGeom>
          <a:solidFill>
            <a:srgbClr val="1424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32104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1540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dag_inference_xgboost */15 min → trafic_predictions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3152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800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PSI/Evidently, data quality, healthchecks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4023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526280" y="418795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262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064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4800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suivant, données fraîches, boucle fermée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4023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8321040" y="4187952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32104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1540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(garde-fou)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800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sécurité avant tout déploiement de code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découplage entraînement/inférence/monitoring, avec CI/CD en garde-fou sur le code, est le principe MLOps central du projet (détail par compétence dans le document).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8" name="TitleAccent">
            <a:extLst>
              <a:ext uri="{FF2B5EF4-FFF2-40B4-BE49-F238E27FC236}">
                <a16:creationId xmlns:a16="http://schemas.microsoft.com/office/drawing/2014/main" id="{89CC7B73-A921-0142-98C9-FA42E625D429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— GitHub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02536" cy="2377440"/>
          </a:xfrm>
          <a:prstGeom prst="roundRect">
            <a:avLst>
              <a:gd name="adj" fmla="val 3653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check + ruff format --check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1682496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Bloquant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88336" y="1691640"/>
            <a:ext cx="2002536" cy="2377440"/>
          </a:xfrm>
          <a:prstGeom prst="roundRect">
            <a:avLst>
              <a:gd name="adj" fmla="val 3653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825496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25496" y="23317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25496" y="27889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 src/ dags/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25496" y="3703320"/>
            <a:ext cx="1682496" cy="292608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825496" y="370332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28032" y="1691640"/>
            <a:ext cx="2002536" cy="2377440"/>
          </a:xfrm>
          <a:prstGeom prst="roundRect">
            <a:avLst>
              <a:gd name="adj" fmla="val 3653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965192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65192" y="23317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27889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(HIGH bloquant), pip-audit, gitleaks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65192" y="3703320"/>
            <a:ext cx="1682496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65192" y="370332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67728" y="1691640"/>
            <a:ext cx="2002536" cy="2377440"/>
          </a:xfrm>
          <a:prstGeom prst="roundRect">
            <a:avLst>
              <a:gd name="adj" fmla="val 3653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104888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04888" y="23317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04888" y="27889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service container PostGIS 16 réel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04888" y="3703320"/>
            <a:ext cx="1682496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104888" y="370332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Bloquant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07424" y="1691640"/>
            <a:ext cx="2002536" cy="2377440"/>
          </a:xfrm>
          <a:prstGeom prst="roundRect">
            <a:avLst>
              <a:gd name="adj" fmla="val 3653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9244584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244584" y="23317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44584" y="27889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des images Dockerfile*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44584" y="3703320"/>
            <a:ext cx="1682496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9244584" y="370332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Bloquant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continu VPS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800600"/>
            <a:ext cx="11064240" cy="1371600"/>
          </a:xfrm>
          <a:prstGeom prst="rect">
            <a:avLst/>
          </a:prstGeom>
          <a:solidFill>
            <a:srgbClr val="0C18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77240" y="489204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check-deploy-env       # vérifie .deploy.env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deploy-vps              # rsync + restart systemd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./scripts/healthcheck-vps.sh # 20 checks bout en bout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rollback-vps            # rollback si besoin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9" name="TitleAccent">
            <a:extLst>
              <a:ext uri="{FF2B5EF4-FFF2-40B4-BE49-F238E27FC236}">
                <a16:creationId xmlns:a16="http://schemas.microsoft.com/office/drawing/2014/main" id="{63E69001-B956-9C4E-9B20-C7A0682749C4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anel"/>
          <p:cNvSpPr/>
          <p:nvPr/>
        </p:nvSpPr>
        <p:spPr>
          <a:xfrm>
            <a:off x="393700" y="1422400"/>
            <a:ext cx="11404600" cy="38862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Réentraînement automatisé (Continuous Training)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48640" y="1554480"/>
          <a:ext cx="11091672" cy="370332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DAG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Cadence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État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dag_daily_speed_train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03h38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Entraîne XGBoost H+1h, logue MLflow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</a:rPr>
                        <a:t>actif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dag_inference_xgboost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*/15 min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Inférence pure → gold.trafic_predictions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</a:rPr>
                        <a:t>actif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dag_inference_velov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*/15 min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Inférence pure → gold.velov_predictions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</a:rPr>
                        <a:t>actif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retrain_xgboost_velov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:50/h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Entraîne XGBoost Vélo'v H+1h, logue MLflow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</a:rPr>
                        <a:t>actif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build_xgb_training_set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02h30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Training set matérialisé (self-join H+1h)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</a:rPr>
                        <a:t>actif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retrain_xgboost_speed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:25/h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Legacy — redondant avec dag_daily_speed_train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A33D"/>
                          </a:solidFill>
                        </a:rPr>
                        <a:t>pausé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refresh_xgb_vs_tomtom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:05,:35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MV cohérence XGB vs TomTom (support drift)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</a:rPr>
                        <a:t>actif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4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daily_drift_report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05h30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</a:rPr>
                        <a:t>Drift PSI + Evidently → réactivé 2026-07-01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</a:rPr>
                        <a:t>actif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Découplage entraînement (lourd, nocturne) / inférence (léger, continu) — principe MLOps central. Garde anti-régression fail loud (pas de repli silencieux).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itleAccent">
            <a:extLst>
              <a:ext uri="{FF2B5EF4-FFF2-40B4-BE49-F238E27FC236}">
                <a16:creationId xmlns:a16="http://schemas.microsoft.com/office/drawing/2014/main" id="{F6FD82B4-3AB0-E54D-A490-563BA1752F3C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9507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 la solution en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modèle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(Population Stability Index) — moteur principal, zéro dépendance lourde, déterministe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— moteur optionnel, rapports HTML détaillés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daily_drift_report (05h30) — réactivé 2026-07-01 après pause en cascade de 25 jours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 : modèle dégradé → retrain / changement réel du trafic → RAS / pas de dérive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4244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+ Telegram : watchdog 5 min, DAGs 30 min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Hystérésis 20 % / 15 %, alerte si backup échoue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Prometheus + Grafana (compose prêt)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custom API (prédictions, latence, persona, DAGs, MLflow, DB)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scripts/healthcheck-vps.sh — 33 contrôles bout en bout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TitleAccent">
            <a:extLst>
              <a:ext uri="{FF2B5EF4-FFF2-40B4-BE49-F238E27FC236}">
                <a16:creationId xmlns:a16="http://schemas.microsoft.com/office/drawing/2014/main" id="{99B6DEFD-8C31-D349-B079-D0BA1B7E0A4F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EN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VPS — pas une maquette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01368"/>
            <a:ext cx="246888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vCPU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24688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Go RAM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100 Go SSD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801368"/>
            <a:ext cx="246888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29000" y="2542032"/>
            <a:ext cx="24688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applicatifs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alertes Telegram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801368"/>
            <a:ext cx="246888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2542032"/>
            <a:ext cx="24688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public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1.27 (80/443)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801368"/>
            <a:ext cx="246888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03h00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06840" y="2542032"/>
            <a:ext cx="24688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DB quotidien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Google Drive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Docker en production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minio · mlflow · airflow-webserver · airflow-scheduler (LocalExecutor) · api (FastAPI) · streamlit · nginx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monitoring : cron + alertes Telegram (cible : prometheus · grafana · alertmanager)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silver.trafic_vitesse_propre par batchs vers MinIO Parquet (silver_archive_to_minio, 04h00)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&amp; audit RGPD : rgpd.purge_log (migration_046)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: make rollback-vps restaure la dernière release saine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2" name="TitleAccent">
            <a:extLst>
              <a:ext uri="{FF2B5EF4-FFF2-40B4-BE49-F238E27FC236}">
                <a16:creationId xmlns:a16="http://schemas.microsoft.com/office/drawing/2014/main" id="{C6BBDFC2-C2D8-D34F-9AE3-BD1C254FC4F1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00" name="KTab"/>
          <p:cNvSpPr/>
          <p:nvPr/>
        </p:nvSpPr>
        <p:spPr>
          <a:xfrm>
            <a:off x="1644650" y="1663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KTab"/>
          <p:cNvSpPr/>
          <p:nvPr/>
        </p:nvSpPr>
        <p:spPr>
          <a:xfrm>
            <a:off x="4438650" y="1663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KTab"/>
          <p:cNvSpPr/>
          <p:nvPr/>
        </p:nvSpPr>
        <p:spPr>
          <a:xfrm>
            <a:off x="7219950" y="1663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KTab"/>
          <p:cNvSpPr/>
          <p:nvPr/>
        </p:nvSpPr>
        <p:spPr>
          <a:xfrm>
            <a:off x="10013950" y="1663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9013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GOUVERNANCE &amp; QUALITÉ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règles de sécurité + qualité logicielle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7552" y="165506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credential en dur (os.getenv + validation boot)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347472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69164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11112" y="165506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paramétré partout (psycopg2 %s)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347472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5856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22219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protégé (Basic auth via Nginx)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2258568"/>
            <a:ext cx="347472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25856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11112" y="22219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API obligatoire (X-API-Key) + rate limiting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25496"/>
            <a:ext cx="347472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2549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" y="2788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interne : 127.0.0.1, Nginx seul exposé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825496"/>
            <a:ext cx="347472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82549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11112" y="2788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par clé uniquement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392424"/>
            <a:ext cx="347472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9242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7552" y="33558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secret dans Git (.gitignore + gitleaks CI)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3392424"/>
            <a:ext cx="347472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39242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11112" y="33558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 non-root (appuser)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959352"/>
            <a:ext cx="347472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5935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7552" y="39227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: purge auditée (rgpd.purge_log), /rgpd/request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3959352"/>
            <a:ext cx="347472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395935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11112" y="39227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Fernet Airflow générée (jamais en dur)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11064240" cy="18288"/>
          </a:xfrm>
          <a:prstGeom prst="rect">
            <a:avLst/>
          </a:prstGeom>
          <a:solidFill>
            <a:srgbClr val="E3E8EE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logicielle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48640" y="5120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" y="5230368"/>
            <a:ext cx="242316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40080" y="5829300"/>
            <a:ext cx="242316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passants (2026-09-24)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0" y="5120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383280" y="5230368"/>
            <a:ext cx="242316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383280" y="5829300"/>
            <a:ext cx="242316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test_*.py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5120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126480" y="5230368"/>
            <a:ext cx="242316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126480" y="5829300"/>
            <a:ext cx="242316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ruff/mypy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 bloquant)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78240" y="5120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869680" y="5230368"/>
            <a:ext cx="242316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869680" y="5829300"/>
            <a:ext cx="242316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en CI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 de mock)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0" name="TitleAccent">
            <a:extLst>
              <a:ext uri="{FF2B5EF4-FFF2-40B4-BE49-F238E27FC236}">
                <a16:creationId xmlns:a16="http://schemas.microsoft.com/office/drawing/2014/main" id="{BA1B332E-7757-2B4C-8133-0BF3A4DE4F99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00" name="KTab"/>
          <p:cNvSpPr/>
          <p:nvPr/>
        </p:nvSpPr>
        <p:spPr>
          <a:xfrm>
            <a:off x="1619250" y="5092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KTab"/>
          <p:cNvSpPr/>
          <p:nvPr/>
        </p:nvSpPr>
        <p:spPr>
          <a:xfrm>
            <a:off x="4362450" y="5092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KTab"/>
          <p:cNvSpPr/>
          <p:nvPr/>
        </p:nvSpPr>
        <p:spPr>
          <a:xfrm>
            <a:off x="7105650" y="5092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KTab"/>
          <p:cNvSpPr/>
          <p:nvPr/>
        </p:nvSpPr>
        <p:spPr>
          <a:xfrm>
            <a:off x="9848850" y="5092700"/>
            <a:ext cx="457200" cy="508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1995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D'ÉVOLUTION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 (EN COURS)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6 — qualité des données (priorité 1 post-certification)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TomTom — backtest MAE croisé XGBoost vs oracle externe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2/4/7 — propagation congestion, report modal, météo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4340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286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: Kustomize, HPA+Ingress, cert-manager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26280" y="33375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ServiceMonitor Prometheus natif K8s, Velero, Helm Airflow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26280" y="4389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kubernetes dormante — manifestes déjà prêts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286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spatial en complément de XGBoost H+1h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33375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de dépendances inter-capteurs — étude de faisabilité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4389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multi-métropole (sources Open Data similaires)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1" name="TitleAccent">
            <a:extLst>
              <a:ext uri="{FF2B5EF4-FFF2-40B4-BE49-F238E27FC236}">
                <a16:creationId xmlns:a16="http://schemas.microsoft.com/office/drawing/2014/main" id="{B86E05C4-07E3-0A45-ADB9-16C2803EFFB1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anel"/>
          <p:cNvSpPr/>
          <p:nvPr/>
        </p:nvSpPr>
        <p:spPr>
          <a:xfrm>
            <a:off x="393700" y="1422400"/>
            <a:ext cx="114046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RNCP38777 BC04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correspondance des compétences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48640" y="1554480"/>
          <a:ext cx="11091672" cy="435254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Compétence attestée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Preuve dans le dépôt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</a:rPr>
                        <a:t>C1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Cahier des charges (besoins, accessibilité)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DOCUMENTATION §2, a11y.py, plotly_theme.py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</a:rPr>
                        <a:t>C2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Algorithme d'IA adapté aux données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xgboost_speed.py, xgboost_velov.py, MLflow Registry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</a:rPr>
                        <a:t>C3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API pour la mise en production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src/api/main.py, metrics.py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</a:rPr>
                        <a:t>C4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Pipelines CI/CD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ci.yml, Makefile, Dockerfile*, docker-compose*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</a:rPr>
                        <a:t>C5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Scripts de réentraînement automatisés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dag_daily_speed_train, dag_inference_*, MLflow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</a:rPr>
                        <a:t>C6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Monitoring de la performance (Evidently)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src/monitoring/, daily_drift_report, healthcheck-vps.sh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itleAccent">
            <a:extLst>
              <a:ext uri="{FF2B5EF4-FFF2-40B4-BE49-F238E27FC236}">
                <a16:creationId xmlns:a16="http://schemas.microsoft.com/office/drawing/2014/main" id="{600063A6-2452-5F48-9908-A0E9045CB5B0}"/>
              </a:ext>
            </a:extLst>
          </p:cNvPr>
          <p:cNvSpPr/>
          <p:nvPr/>
        </p:nvSpPr>
        <p:spPr>
          <a:xfrm>
            <a:off x="393700" y="355600"/>
            <a:ext cx="63500" cy="1016000"/>
          </a:xfrm>
          <a:prstGeom prst="roundRect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2638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4244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n'est pas une preuve de concept : c'est un système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continue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VPS unique, couvrant les 6 compétences du Bloc 4.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950208"/>
            <a:ext cx="242316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634179"/>
            <a:ext cx="242316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orchestrés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3840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3950208"/>
            <a:ext cx="242316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11880" y="4634179"/>
            <a:ext cx="242316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passants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3840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950208"/>
            <a:ext cx="242316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4634179"/>
            <a:ext cx="242316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/ 3 personas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38404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38100" dir="5400000" algn="bl" rotWithShape="0">
              <a:srgbClr val="14244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3950208"/>
            <a:ext cx="242316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89720" y="4634179"/>
            <a:ext cx="242316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trafic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sobre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577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Patrice DUCLOS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LyonFlow — RNCP 38777 BC04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5A7949B-47E2-8641-A8D0-6EB636D86D8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68e7922-6db2-4140-a57c-5679c9f8ea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2537</Words>
  <Application>Microsoft Macintosh PowerPoint</Application>
  <PresentationFormat>Grand écran</PresentationFormat>
  <Paragraphs>470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LyonFlow — Bloc 4 RNCP 38777 — Soutenance (v2)</dc:title>
  <dc:subject>PptxGenJS Presentation</dc:subject>
  <dc:creator>Patrice DUCLOS</dc:creator>
  <cp:lastModifiedBy>Patrice DUCLOS</cp:lastModifiedBy>
  <cp:revision>3</cp:revision>
  <dcterms:created xsi:type="dcterms:W3CDTF">2026-07-11T07:53:59Z</dcterms:created>
  <dcterms:modified xsi:type="dcterms:W3CDTF">2026-07-23T12:01:29Z</dcterms:modified>
</cp:coreProperties>
</file>